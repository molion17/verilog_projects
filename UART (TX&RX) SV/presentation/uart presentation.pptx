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League Spartan" charset="1" panose="00000800000000000000"/>
      <p:regular r:id="rId18"/>
    </p:embeddedFont>
    <p:embeddedFont>
      <p:font typeface="Questrial" charset="1" panose="00000000000000000000"/>
      <p:regular r:id="rId19"/>
    </p:embeddedFont>
    <p:embeddedFont>
      <p:font typeface="Marelle Bâton" charset="1" panose="03050501040207020D04"/>
      <p:regular r:id="rId20"/>
    </p:embeddedFont>
    <p:embeddedFont>
      <p:font typeface="Hibernate" charset="1" panose="02000503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1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8.pn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2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3574881" y="2552899"/>
            <a:ext cx="5610720" cy="5858532"/>
          </a:xfrm>
          <a:custGeom>
            <a:avLst/>
            <a:gdLst/>
            <a:ahLst/>
            <a:cxnLst/>
            <a:rect r="r" b="b" t="t" l="l"/>
            <a:pathLst>
              <a:path h="5858532" w="5610720">
                <a:moveTo>
                  <a:pt x="5610720" y="0"/>
                </a:moveTo>
                <a:lnTo>
                  <a:pt x="0" y="0"/>
                </a:lnTo>
                <a:lnTo>
                  <a:pt x="0" y="5858533"/>
                </a:lnTo>
                <a:lnTo>
                  <a:pt x="5610720" y="5858533"/>
                </a:lnTo>
                <a:lnTo>
                  <a:pt x="561072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26995" y="7044639"/>
            <a:ext cx="2233712" cy="4251009"/>
          </a:xfrm>
          <a:custGeom>
            <a:avLst/>
            <a:gdLst/>
            <a:ahLst/>
            <a:cxnLst/>
            <a:rect r="r" b="b" t="t" l="l"/>
            <a:pathLst>
              <a:path h="4251009" w="2233712">
                <a:moveTo>
                  <a:pt x="0" y="0"/>
                </a:moveTo>
                <a:lnTo>
                  <a:pt x="2233712" y="0"/>
                </a:lnTo>
                <a:lnTo>
                  <a:pt x="2233712" y="4251010"/>
                </a:lnTo>
                <a:lnTo>
                  <a:pt x="0" y="42510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81012" y="3092258"/>
            <a:ext cx="5563349" cy="2509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55"/>
              </a:lnSpc>
            </a:pPr>
            <a:r>
              <a:rPr lang="en-US" sz="9033">
                <a:solidFill>
                  <a:srgbClr val="145DC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UART (TX&amp;RX)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81012" y="6193982"/>
            <a:ext cx="9496390" cy="645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59"/>
              </a:lnSpc>
            </a:pPr>
            <a:r>
              <a:rPr lang="en-US" sz="4499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Presented by Mohamed Zanaty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5400000">
            <a:off x="11056223" y="-1440442"/>
            <a:ext cx="2233712" cy="4251009"/>
          </a:xfrm>
          <a:custGeom>
            <a:avLst/>
            <a:gdLst/>
            <a:ahLst/>
            <a:cxnLst/>
            <a:rect r="r" b="b" t="t" l="l"/>
            <a:pathLst>
              <a:path h="4251009" w="2233712">
                <a:moveTo>
                  <a:pt x="0" y="0"/>
                </a:moveTo>
                <a:lnTo>
                  <a:pt x="2233712" y="0"/>
                </a:lnTo>
                <a:lnTo>
                  <a:pt x="2233712" y="4251009"/>
                </a:lnTo>
                <a:lnTo>
                  <a:pt x="0" y="42510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10210" y="544701"/>
            <a:ext cx="3515755" cy="1386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92"/>
              </a:lnSpc>
              <a:spcBef>
                <a:spcPct val="0"/>
              </a:spcBef>
            </a:pPr>
            <a:r>
              <a:rPr lang="en-US" sz="9900">
                <a:solidFill>
                  <a:srgbClr val="000000"/>
                </a:solidFill>
                <a:latin typeface="Marelle Bâton"/>
                <a:ea typeface="Marelle Bâton"/>
                <a:cs typeface="Marelle Bâton"/>
                <a:sym typeface="Marelle Bâton"/>
              </a:rPr>
              <a:t>NTI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451703" y="344748"/>
            <a:ext cx="2371115" cy="2086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14"/>
              </a:lnSpc>
              <a:spcBef>
                <a:spcPct val="0"/>
              </a:spcBef>
            </a:pPr>
            <a:r>
              <a:rPr lang="en-US" sz="14828">
                <a:solidFill>
                  <a:srgbClr val="000000"/>
                </a:solidFill>
                <a:latin typeface="Hibernate"/>
                <a:ea typeface="Hibernate"/>
                <a:cs typeface="Hibernate"/>
                <a:sym typeface="Hibernate"/>
              </a:rPr>
              <a:t>FPGA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13753952" y="-1792773"/>
            <a:ext cx="3489225" cy="6640393"/>
          </a:xfrm>
          <a:custGeom>
            <a:avLst/>
            <a:gdLst/>
            <a:ahLst/>
            <a:cxnLst/>
            <a:rect r="r" b="b" t="t" l="l"/>
            <a:pathLst>
              <a:path h="6640393" w="3489225">
                <a:moveTo>
                  <a:pt x="0" y="0"/>
                </a:moveTo>
                <a:lnTo>
                  <a:pt x="3489224" y="0"/>
                </a:lnTo>
                <a:lnTo>
                  <a:pt x="3489224" y="6640393"/>
                </a:lnTo>
                <a:lnTo>
                  <a:pt x="0" y="66403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3280006" y="7736710"/>
            <a:ext cx="673331" cy="4114800"/>
          </a:xfrm>
          <a:custGeom>
            <a:avLst/>
            <a:gdLst/>
            <a:ahLst/>
            <a:cxnLst/>
            <a:rect r="r" b="b" t="t" l="l"/>
            <a:pathLst>
              <a:path h="4114800" w="673331">
                <a:moveTo>
                  <a:pt x="0" y="0"/>
                </a:moveTo>
                <a:lnTo>
                  <a:pt x="673331" y="0"/>
                </a:lnTo>
                <a:lnTo>
                  <a:pt x="67333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81012" y="2576302"/>
            <a:ext cx="14872639" cy="6681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8"/>
              </a:lnSpc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UART (Universal Asynchronous Receiver/Transmitter) is a serial communication protocol used to transfer data between digital systems without requiring a shared clock.</a:t>
            </a:r>
          </a:p>
          <a:p>
            <a:pPr algn="l">
              <a:lnSpc>
                <a:spcPts val="3288"/>
              </a:lnSpc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In this project, a complete UART Transmitter (TX) and Receiver (RX) system was designed using Verilog HDL. The TX converts parallel input data into a serial UART frame, while the RX receives the serial frame and converts it back into parallel data.</a:t>
            </a:r>
          </a:p>
          <a:p>
            <a:pPr algn="l">
              <a:lnSpc>
                <a:spcPts val="3288"/>
              </a:lnSpc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The Transmitter (TX) consists of an FSM controller, parallel-to-serial serializer, parity-bit generator, and MUX to control the transmission sequence.</a:t>
            </a:r>
          </a:p>
          <a:p>
            <a:pPr algn="l">
              <a:lnSpc>
                <a:spcPts val="3288"/>
              </a:lnSpc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The Receiver (RX) uses an FSM controller, serial-to-parallel shift register, data sampling logic, and parity/frame error detection to correctly recover the transmitted data.</a:t>
            </a:r>
          </a:p>
          <a:p>
            <a:pPr algn="l">
              <a:lnSpc>
                <a:spcPts val="3288"/>
              </a:lnSpc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The UART frame is transmitted and received in the following order:</a:t>
            </a:r>
          </a:p>
          <a:p>
            <a:pPr algn="l">
              <a:lnSpc>
                <a:spcPts val="3288"/>
              </a:lnSpc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Start Bit → Data Bits → Optional Parity Bit → Stop Bit</a:t>
            </a:r>
          </a:p>
          <a:p>
            <a:pPr algn="l">
              <a:lnSpc>
                <a:spcPts val="3288"/>
              </a:lnSpc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The design is parameterized, allowing the data width to be changed easily. It also supports even/odd parity selection, TX busy status, transmission completion detection, RX data-valid indication, and parity/frame error detection.</a:t>
            </a:r>
          </a:p>
          <a:p>
            <a:pPr algn="l">
              <a:lnSpc>
                <a:spcPts val="3288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681012" y="1622674"/>
            <a:ext cx="12661353" cy="1103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23"/>
              </a:lnSpc>
            </a:pPr>
            <a:r>
              <a:rPr lang="en-US" sz="7891">
                <a:solidFill>
                  <a:srgbClr val="145DC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UART: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3600" y="4733186"/>
            <a:ext cx="3489225" cy="6640393"/>
          </a:xfrm>
          <a:custGeom>
            <a:avLst/>
            <a:gdLst/>
            <a:ahLst/>
            <a:cxnLst/>
            <a:rect r="r" b="b" t="t" l="l"/>
            <a:pathLst>
              <a:path h="6640393" w="3489225">
                <a:moveTo>
                  <a:pt x="0" y="0"/>
                </a:moveTo>
                <a:lnTo>
                  <a:pt x="3489224" y="0"/>
                </a:lnTo>
                <a:lnTo>
                  <a:pt x="3489224" y="6640393"/>
                </a:lnTo>
                <a:lnTo>
                  <a:pt x="0" y="66403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790936" y="3119863"/>
            <a:ext cx="3657600" cy="784721"/>
          </a:xfrm>
          <a:custGeom>
            <a:avLst/>
            <a:gdLst/>
            <a:ahLst/>
            <a:cxnLst/>
            <a:rect r="r" b="b" t="t" l="l"/>
            <a:pathLst>
              <a:path h="784721" w="3657600">
                <a:moveTo>
                  <a:pt x="0" y="0"/>
                </a:moveTo>
                <a:lnTo>
                  <a:pt x="3657600" y="0"/>
                </a:lnTo>
                <a:lnTo>
                  <a:pt x="3657600" y="784721"/>
                </a:lnTo>
                <a:lnTo>
                  <a:pt x="0" y="78472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669522" y="4127776"/>
            <a:ext cx="11201638" cy="6109985"/>
          </a:xfrm>
          <a:custGeom>
            <a:avLst/>
            <a:gdLst/>
            <a:ahLst/>
            <a:cxnLst/>
            <a:rect r="r" b="b" t="t" l="l"/>
            <a:pathLst>
              <a:path h="6109985" w="11201638">
                <a:moveTo>
                  <a:pt x="0" y="0"/>
                </a:moveTo>
                <a:lnTo>
                  <a:pt x="11201638" y="0"/>
                </a:lnTo>
                <a:lnTo>
                  <a:pt x="11201638" y="6109984"/>
                </a:lnTo>
                <a:lnTo>
                  <a:pt x="0" y="610998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005254" y="2076594"/>
            <a:ext cx="10277493" cy="1103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23"/>
              </a:lnSpc>
            </a:pPr>
            <a:r>
              <a:rPr lang="en-US" sz="7891">
                <a:solidFill>
                  <a:srgbClr val="145DC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FRAME FORMAT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3600" y="4733186"/>
            <a:ext cx="3489225" cy="6640393"/>
          </a:xfrm>
          <a:custGeom>
            <a:avLst/>
            <a:gdLst/>
            <a:ahLst/>
            <a:cxnLst/>
            <a:rect r="r" b="b" t="t" l="l"/>
            <a:pathLst>
              <a:path h="6640393" w="3489225">
                <a:moveTo>
                  <a:pt x="0" y="0"/>
                </a:moveTo>
                <a:lnTo>
                  <a:pt x="3489224" y="0"/>
                </a:lnTo>
                <a:lnTo>
                  <a:pt x="3489224" y="6640393"/>
                </a:lnTo>
                <a:lnTo>
                  <a:pt x="0" y="66403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790936" y="3119863"/>
            <a:ext cx="3657600" cy="784721"/>
          </a:xfrm>
          <a:custGeom>
            <a:avLst/>
            <a:gdLst/>
            <a:ahLst/>
            <a:cxnLst/>
            <a:rect r="r" b="b" t="t" l="l"/>
            <a:pathLst>
              <a:path h="784721" w="3657600">
                <a:moveTo>
                  <a:pt x="0" y="0"/>
                </a:moveTo>
                <a:lnTo>
                  <a:pt x="3657600" y="0"/>
                </a:lnTo>
                <a:lnTo>
                  <a:pt x="3657600" y="784721"/>
                </a:lnTo>
                <a:lnTo>
                  <a:pt x="0" y="78472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005254" y="5143500"/>
            <a:ext cx="1185283" cy="964030"/>
          </a:xfrm>
          <a:custGeom>
            <a:avLst/>
            <a:gdLst/>
            <a:ahLst/>
            <a:cxnLst/>
            <a:rect r="r" b="b" t="t" l="l"/>
            <a:pathLst>
              <a:path h="964030" w="1185283">
                <a:moveTo>
                  <a:pt x="0" y="0"/>
                </a:moveTo>
                <a:lnTo>
                  <a:pt x="1185283" y="0"/>
                </a:lnTo>
                <a:lnTo>
                  <a:pt x="1185283" y="964030"/>
                </a:lnTo>
                <a:lnTo>
                  <a:pt x="0" y="96403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498152" y="4761761"/>
            <a:ext cx="10950385" cy="2525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2"/>
              </a:lnSpc>
            </a:pPr>
            <a:r>
              <a:rPr lang="en-US" sz="33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TX:</a:t>
            </a:r>
          </a:p>
          <a:p>
            <a:pPr algn="l">
              <a:lnSpc>
                <a:spcPts val="3288"/>
              </a:lnSpc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i divied the project into 4 modules:</a:t>
            </a:r>
          </a:p>
          <a:p>
            <a:pPr algn="l" marL="657424" indent="-328712" lvl="1">
              <a:lnSpc>
                <a:spcPts val="3288"/>
              </a:lnSpc>
              <a:buFont typeface="Arial"/>
              <a:buChar char="•"/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FSM</a:t>
            </a:r>
          </a:p>
          <a:p>
            <a:pPr algn="l" marL="657424" indent="-328712" lvl="1">
              <a:lnSpc>
                <a:spcPts val="3288"/>
              </a:lnSpc>
              <a:buFont typeface="Arial"/>
              <a:buChar char="•"/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SERIALIZER</a:t>
            </a:r>
          </a:p>
          <a:p>
            <a:pPr algn="l" marL="657424" indent="-328712" lvl="1">
              <a:lnSpc>
                <a:spcPts val="3288"/>
              </a:lnSpc>
              <a:buFont typeface="Arial"/>
              <a:buChar char="•"/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PARITY_CALC</a:t>
            </a:r>
          </a:p>
          <a:p>
            <a:pPr algn="l" marL="657424" indent="-328712" lvl="1">
              <a:lnSpc>
                <a:spcPts val="3288"/>
              </a:lnSpc>
              <a:buFont typeface="Arial"/>
              <a:buChar char="•"/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MUX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005254" y="2076594"/>
            <a:ext cx="10277493" cy="1103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23"/>
              </a:lnSpc>
            </a:pPr>
            <a:r>
              <a:rPr lang="en-US" sz="7891">
                <a:solidFill>
                  <a:srgbClr val="145DC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what i made 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498152" y="7366969"/>
            <a:ext cx="10950385" cy="191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8"/>
              </a:lnSpc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RX:</a:t>
            </a:r>
          </a:p>
          <a:p>
            <a:pPr algn="l">
              <a:lnSpc>
                <a:spcPts val="2964"/>
              </a:lnSpc>
            </a:pPr>
            <a:r>
              <a:rPr lang="en-US" sz="27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i divied the project into 3 modules:</a:t>
            </a:r>
          </a:p>
          <a:p>
            <a:pPr algn="l" marL="592655" indent="-296328" lvl="1">
              <a:lnSpc>
                <a:spcPts val="2964"/>
              </a:lnSpc>
              <a:buFont typeface="Arial"/>
              <a:buChar char="•"/>
            </a:pPr>
            <a:r>
              <a:rPr lang="en-US" sz="27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FSM</a:t>
            </a:r>
          </a:p>
          <a:p>
            <a:pPr algn="l" marL="592655" indent="-296328" lvl="1">
              <a:lnSpc>
                <a:spcPts val="2964"/>
              </a:lnSpc>
              <a:buFont typeface="Arial"/>
              <a:buChar char="•"/>
            </a:pPr>
            <a:r>
              <a:rPr lang="en-US" sz="27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DESERIALIZER</a:t>
            </a:r>
          </a:p>
          <a:p>
            <a:pPr algn="l" marL="592655" indent="-296328" lvl="1">
              <a:lnSpc>
                <a:spcPts val="2964"/>
              </a:lnSpc>
              <a:buFont typeface="Arial"/>
              <a:buChar char="•"/>
            </a:pPr>
            <a:r>
              <a:rPr lang="en-US" sz="27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PARITY_CHECK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4005254" y="7920858"/>
            <a:ext cx="1185283" cy="964030"/>
          </a:xfrm>
          <a:custGeom>
            <a:avLst/>
            <a:gdLst/>
            <a:ahLst/>
            <a:cxnLst/>
            <a:rect r="r" b="b" t="t" l="l"/>
            <a:pathLst>
              <a:path h="964030" w="1185283">
                <a:moveTo>
                  <a:pt x="0" y="0"/>
                </a:moveTo>
                <a:lnTo>
                  <a:pt x="1185283" y="0"/>
                </a:lnTo>
                <a:lnTo>
                  <a:pt x="1185283" y="964031"/>
                </a:lnTo>
                <a:lnTo>
                  <a:pt x="0" y="96403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724282" y="1169738"/>
            <a:ext cx="3657600" cy="784721"/>
          </a:xfrm>
          <a:custGeom>
            <a:avLst/>
            <a:gdLst/>
            <a:ahLst/>
            <a:cxnLst/>
            <a:rect r="r" b="b" t="t" l="l"/>
            <a:pathLst>
              <a:path h="784721" w="3657600">
                <a:moveTo>
                  <a:pt x="0" y="0"/>
                </a:moveTo>
                <a:lnTo>
                  <a:pt x="3657600" y="0"/>
                </a:lnTo>
                <a:lnTo>
                  <a:pt x="3657600" y="784722"/>
                </a:lnTo>
                <a:lnTo>
                  <a:pt x="0" y="7847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6510401" y="6966803"/>
            <a:ext cx="3489225" cy="6640393"/>
          </a:xfrm>
          <a:custGeom>
            <a:avLst/>
            <a:gdLst/>
            <a:ahLst/>
            <a:cxnLst/>
            <a:rect r="r" b="b" t="t" l="l"/>
            <a:pathLst>
              <a:path h="6640393" w="3489225">
                <a:moveTo>
                  <a:pt x="0" y="0"/>
                </a:moveTo>
                <a:lnTo>
                  <a:pt x="3489225" y="0"/>
                </a:lnTo>
                <a:lnTo>
                  <a:pt x="3489225" y="6640394"/>
                </a:lnTo>
                <a:lnTo>
                  <a:pt x="0" y="664039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906513" y="2975924"/>
            <a:ext cx="13857212" cy="4958935"/>
          </a:xfrm>
          <a:custGeom>
            <a:avLst/>
            <a:gdLst/>
            <a:ahLst/>
            <a:cxnLst/>
            <a:rect r="r" b="b" t="t" l="l"/>
            <a:pathLst>
              <a:path h="4958935" w="13857212">
                <a:moveTo>
                  <a:pt x="0" y="0"/>
                </a:moveTo>
                <a:lnTo>
                  <a:pt x="13857212" y="0"/>
                </a:lnTo>
                <a:lnTo>
                  <a:pt x="13857212" y="4958935"/>
                </a:lnTo>
                <a:lnTo>
                  <a:pt x="0" y="495893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264988"/>
            <a:ext cx="10277493" cy="1103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23"/>
              </a:lnSpc>
            </a:pPr>
            <a:r>
              <a:rPr lang="en-US" sz="7891">
                <a:solidFill>
                  <a:srgbClr val="145DC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UART_TX: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724282" y="1169738"/>
            <a:ext cx="3657600" cy="784721"/>
          </a:xfrm>
          <a:custGeom>
            <a:avLst/>
            <a:gdLst/>
            <a:ahLst/>
            <a:cxnLst/>
            <a:rect r="r" b="b" t="t" l="l"/>
            <a:pathLst>
              <a:path h="784721" w="3657600">
                <a:moveTo>
                  <a:pt x="0" y="0"/>
                </a:moveTo>
                <a:lnTo>
                  <a:pt x="3657600" y="0"/>
                </a:lnTo>
                <a:lnTo>
                  <a:pt x="3657600" y="784722"/>
                </a:lnTo>
                <a:lnTo>
                  <a:pt x="0" y="7847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2368395"/>
            <a:ext cx="1185283" cy="964030"/>
          </a:xfrm>
          <a:custGeom>
            <a:avLst/>
            <a:gdLst/>
            <a:ahLst/>
            <a:cxnLst/>
            <a:rect r="r" b="b" t="t" l="l"/>
            <a:pathLst>
              <a:path h="964030" w="1185283">
                <a:moveTo>
                  <a:pt x="0" y="0"/>
                </a:moveTo>
                <a:lnTo>
                  <a:pt x="1185283" y="0"/>
                </a:lnTo>
                <a:lnTo>
                  <a:pt x="1185283" y="964030"/>
                </a:lnTo>
                <a:lnTo>
                  <a:pt x="0" y="96403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519733" y="2493778"/>
            <a:ext cx="10950385" cy="3704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8"/>
              </a:lnSpc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FSM:</a:t>
            </a:r>
          </a:p>
          <a:p>
            <a:pPr algn="l">
              <a:lnSpc>
                <a:spcPts val="3288"/>
              </a:lnSpc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i choose 5 states for controlles:</a:t>
            </a:r>
          </a:p>
          <a:p>
            <a:pPr algn="l" marL="657424" indent="-328712" lvl="1">
              <a:lnSpc>
                <a:spcPts val="3288"/>
              </a:lnSpc>
              <a:buFont typeface="Arial"/>
              <a:buChar char="•"/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START: that is the start to system and generate first bit (0) and make the system busy.</a:t>
            </a:r>
          </a:p>
          <a:p>
            <a:pPr algn="l" marL="657424" indent="-328712" lvl="1">
              <a:lnSpc>
                <a:spcPts val="3288"/>
              </a:lnSpc>
              <a:buFont typeface="Arial"/>
              <a:buChar char="•"/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DATA</a:t>
            </a: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: make mux get data from the serializer stage.</a:t>
            </a:r>
          </a:p>
          <a:p>
            <a:pPr algn="l" marL="657424" indent="-328712" lvl="1">
              <a:lnSpc>
                <a:spcPts val="3288"/>
              </a:lnSpc>
              <a:buFont typeface="Arial"/>
              <a:buChar char="•"/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PARITY</a:t>
            </a: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: make mux get data from parity if P_en = (1).</a:t>
            </a:r>
          </a:p>
          <a:p>
            <a:pPr algn="l" marL="657424" indent="-328712" lvl="1">
              <a:lnSpc>
                <a:spcPts val="3288"/>
              </a:lnSpc>
              <a:buFont typeface="Arial"/>
              <a:buChar char="•"/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STOP</a:t>
            </a: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: that is stop and idle stage make the mux out (1).</a:t>
            </a:r>
          </a:p>
          <a:p>
            <a:pPr algn="l" marL="657424" indent="-328712" lvl="1">
              <a:lnSpc>
                <a:spcPts val="3288"/>
              </a:lnSpc>
              <a:buFont typeface="Arial"/>
              <a:buChar char="•"/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IDLE : for non input make the out = (1).</a:t>
            </a: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 </a:t>
            </a:r>
          </a:p>
          <a:p>
            <a:pPr algn="l">
              <a:lnSpc>
                <a:spcPts val="3288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264988"/>
            <a:ext cx="10277493" cy="1103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23"/>
              </a:lnSpc>
            </a:pPr>
            <a:r>
              <a:rPr lang="en-US" sz="7891">
                <a:solidFill>
                  <a:srgbClr val="145DC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UART_TX: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28700" y="5715769"/>
            <a:ext cx="1185283" cy="964030"/>
          </a:xfrm>
          <a:custGeom>
            <a:avLst/>
            <a:gdLst/>
            <a:ahLst/>
            <a:cxnLst/>
            <a:rect r="r" b="b" t="t" l="l"/>
            <a:pathLst>
              <a:path h="964030" w="1185283">
                <a:moveTo>
                  <a:pt x="0" y="0"/>
                </a:moveTo>
                <a:lnTo>
                  <a:pt x="1185283" y="0"/>
                </a:lnTo>
                <a:lnTo>
                  <a:pt x="1185283" y="964031"/>
                </a:lnTo>
                <a:lnTo>
                  <a:pt x="0" y="96403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519733" y="6226359"/>
            <a:ext cx="10950385" cy="2933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8"/>
              </a:lnSpc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SERILAZIER:</a:t>
            </a:r>
          </a:p>
          <a:p>
            <a:pPr algn="l">
              <a:lnSpc>
                <a:spcPts val="3288"/>
              </a:lnSpc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for serializer i made parallel to serial converter</a:t>
            </a:r>
          </a:p>
          <a:p>
            <a:pPr algn="l">
              <a:lnSpc>
                <a:spcPts val="3288"/>
              </a:lnSpc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it get data when load is (1)</a:t>
            </a:r>
          </a:p>
          <a:p>
            <a:pPr algn="l">
              <a:lnSpc>
                <a:spcPts val="3288"/>
              </a:lnSpc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and start when (1)</a:t>
            </a:r>
          </a:p>
          <a:p>
            <a:pPr algn="l">
              <a:lnSpc>
                <a:spcPts val="3288"/>
              </a:lnSpc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that is make a delay, if a new data come the serial will a delay and start but i think it is okey because get a space for a start_bit (0).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4484422" y="3515778"/>
            <a:ext cx="3489225" cy="6640393"/>
          </a:xfrm>
          <a:custGeom>
            <a:avLst/>
            <a:gdLst/>
            <a:ahLst/>
            <a:cxnLst/>
            <a:rect r="r" b="b" t="t" l="l"/>
            <a:pathLst>
              <a:path h="6640393" w="3489225">
                <a:moveTo>
                  <a:pt x="0" y="0"/>
                </a:moveTo>
                <a:lnTo>
                  <a:pt x="3489224" y="0"/>
                </a:lnTo>
                <a:lnTo>
                  <a:pt x="3489224" y="6640393"/>
                </a:lnTo>
                <a:lnTo>
                  <a:pt x="0" y="664039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724282" y="1169738"/>
            <a:ext cx="3657600" cy="784721"/>
          </a:xfrm>
          <a:custGeom>
            <a:avLst/>
            <a:gdLst/>
            <a:ahLst/>
            <a:cxnLst/>
            <a:rect r="r" b="b" t="t" l="l"/>
            <a:pathLst>
              <a:path h="784721" w="3657600">
                <a:moveTo>
                  <a:pt x="0" y="0"/>
                </a:moveTo>
                <a:lnTo>
                  <a:pt x="3657600" y="0"/>
                </a:lnTo>
                <a:lnTo>
                  <a:pt x="3657600" y="784722"/>
                </a:lnTo>
                <a:lnTo>
                  <a:pt x="0" y="7847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2368395"/>
            <a:ext cx="1185283" cy="964030"/>
          </a:xfrm>
          <a:custGeom>
            <a:avLst/>
            <a:gdLst/>
            <a:ahLst/>
            <a:cxnLst/>
            <a:rect r="r" b="b" t="t" l="l"/>
            <a:pathLst>
              <a:path h="964030" w="1185283">
                <a:moveTo>
                  <a:pt x="0" y="0"/>
                </a:moveTo>
                <a:lnTo>
                  <a:pt x="1185283" y="0"/>
                </a:lnTo>
                <a:lnTo>
                  <a:pt x="1185283" y="964030"/>
                </a:lnTo>
                <a:lnTo>
                  <a:pt x="0" y="96403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264988"/>
            <a:ext cx="10277493" cy="1103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23"/>
              </a:lnSpc>
            </a:pPr>
            <a:r>
              <a:rPr lang="en-US" sz="7891">
                <a:solidFill>
                  <a:srgbClr val="145DC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UART_TX: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510381" y="2680535"/>
            <a:ext cx="8348928" cy="2100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8"/>
              </a:lnSpc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PARITY_CLAC:</a:t>
            </a:r>
          </a:p>
          <a:p>
            <a:pPr algn="l">
              <a:lnSpc>
                <a:spcPts val="3288"/>
              </a:lnSpc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this stage calculate the parity:</a:t>
            </a:r>
          </a:p>
          <a:p>
            <a:pPr algn="l" marL="657424" indent="-328712" lvl="1">
              <a:lnSpc>
                <a:spcPts val="3288"/>
              </a:lnSpc>
              <a:buFont typeface="Arial"/>
              <a:buChar char="•"/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if even the system xor the input data.</a:t>
            </a:r>
          </a:p>
          <a:p>
            <a:pPr algn="l" marL="657424" indent="-328712" lvl="1">
              <a:lnSpc>
                <a:spcPts val="3288"/>
              </a:lnSpc>
              <a:buFont typeface="Arial"/>
              <a:buChar char="•"/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if odd the system xnor the input data.</a:t>
            </a:r>
          </a:p>
          <a:p>
            <a:pPr algn="l">
              <a:lnSpc>
                <a:spcPts val="3288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28700" y="5715769"/>
            <a:ext cx="1185283" cy="964030"/>
          </a:xfrm>
          <a:custGeom>
            <a:avLst/>
            <a:gdLst/>
            <a:ahLst/>
            <a:cxnLst/>
            <a:rect r="r" b="b" t="t" l="l"/>
            <a:pathLst>
              <a:path h="964030" w="1185283">
                <a:moveTo>
                  <a:pt x="0" y="0"/>
                </a:moveTo>
                <a:lnTo>
                  <a:pt x="1185283" y="0"/>
                </a:lnTo>
                <a:lnTo>
                  <a:pt x="1185283" y="964031"/>
                </a:lnTo>
                <a:lnTo>
                  <a:pt x="0" y="96403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510381" y="5744344"/>
            <a:ext cx="8348928" cy="334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8"/>
              </a:lnSpc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MUX:</a:t>
            </a:r>
          </a:p>
          <a:p>
            <a:pPr algn="l">
              <a:lnSpc>
                <a:spcPts val="3288"/>
              </a:lnSpc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Just a mux has 4 different staes and controlles the output:</a:t>
            </a:r>
          </a:p>
          <a:p>
            <a:pPr algn="l">
              <a:lnSpc>
                <a:spcPts val="3288"/>
              </a:lnSpc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S0: out a start_bit (0).</a:t>
            </a:r>
          </a:p>
          <a:p>
            <a:pPr algn="l">
              <a:lnSpc>
                <a:spcPts val="3288"/>
              </a:lnSpc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S1: out the serial data.</a:t>
            </a:r>
          </a:p>
          <a:p>
            <a:pPr algn="l">
              <a:lnSpc>
                <a:spcPts val="3288"/>
              </a:lnSpc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S2: out the parity_bit.</a:t>
            </a:r>
          </a:p>
          <a:p>
            <a:pPr algn="l">
              <a:lnSpc>
                <a:spcPts val="3288"/>
              </a:lnSpc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S3:out the end_bit (0).</a:t>
            </a:r>
          </a:p>
          <a:p>
            <a:pPr algn="l">
              <a:lnSpc>
                <a:spcPts val="3288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4636454" y="3646607"/>
            <a:ext cx="3489225" cy="6640393"/>
          </a:xfrm>
          <a:custGeom>
            <a:avLst/>
            <a:gdLst/>
            <a:ahLst/>
            <a:cxnLst/>
            <a:rect r="r" b="b" t="t" l="l"/>
            <a:pathLst>
              <a:path h="6640393" w="3489225">
                <a:moveTo>
                  <a:pt x="0" y="0"/>
                </a:moveTo>
                <a:lnTo>
                  <a:pt x="3489225" y="0"/>
                </a:lnTo>
                <a:lnTo>
                  <a:pt x="3489225" y="6640393"/>
                </a:lnTo>
                <a:lnTo>
                  <a:pt x="0" y="664039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6892491" y="6966803"/>
            <a:ext cx="3489225" cy="6640393"/>
          </a:xfrm>
          <a:custGeom>
            <a:avLst/>
            <a:gdLst/>
            <a:ahLst/>
            <a:cxnLst/>
            <a:rect r="r" b="b" t="t" l="l"/>
            <a:pathLst>
              <a:path h="6640393" w="3489225">
                <a:moveTo>
                  <a:pt x="0" y="0"/>
                </a:moveTo>
                <a:lnTo>
                  <a:pt x="3489224" y="0"/>
                </a:lnTo>
                <a:lnTo>
                  <a:pt x="3489224" y="6640394"/>
                </a:lnTo>
                <a:lnTo>
                  <a:pt x="0" y="66403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002786" y="1334591"/>
            <a:ext cx="4236313" cy="724024"/>
          </a:xfrm>
          <a:custGeom>
            <a:avLst/>
            <a:gdLst/>
            <a:ahLst/>
            <a:cxnLst/>
            <a:rect r="r" b="b" t="t" l="l"/>
            <a:pathLst>
              <a:path h="724024" w="4236313">
                <a:moveTo>
                  <a:pt x="0" y="0"/>
                </a:moveTo>
                <a:lnTo>
                  <a:pt x="4236313" y="0"/>
                </a:lnTo>
                <a:lnTo>
                  <a:pt x="4236313" y="724024"/>
                </a:lnTo>
                <a:lnTo>
                  <a:pt x="0" y="7240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700680" y="3422707"/>
            <a:ext cx="12562712" cy="4648355"/>
          </a:xfrm>
          <a:custGeom>
            <a:avLst/>
            <a:gdLst/>
            <a:ahLst/>
            <a:cxnLst/>
            <a:rect r="r" b="b" t="t" l="l"/>
            <a:pathLst>
              <a:path h="4648355" w="12562712">
                <a:moveTo>
                  <a:pt x="0" y="0"/>
                </a:moveTo>
                <a:lnTo>
                  <a:pt x="12562711" y="0"/>
                </a:lnTo>
                <a:lnTo>
                  <a:pt x="12562711" y="4648355"/>
                </a:lnTo>
                <a:lnTo>
                  <a:pt x="0" y="464835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34503" y="1554537"/>
            <a:ext cx="10277493" cy="1103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23"/>
              </a:lnSpc>
            </a:pPr>
            <a:r>
              <a:rPr lang="en-US" sz="7891">
                <a:solidFill>
                  <a:srgbClr val="145DC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UART_RX: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289048" y="3515778"/>
            <a:ext cx="3489225" cy="6640393"/>
          </a:xfrm>
          <a:custGeom>
            <a:avLst/>
            <a:gdLst/>
            <a:ahLst/>
            <a:cxnLst/>
            <a:rect r="r" b="b" t="t" l="l"/>
            <a:pathLst>
              <a:path h="6640393" w="3489225">
                <a:moveTo>
                  <a:pt x="0" y="0"/>
                </a:moveTo>
                <a:lnTo>
                  <a:pt x="3489224" y="0"/>
                </a:lnTo>
                <a:lnTo>
                  <a:pt x="3489224" y="6640393"/>
                </a:lnTo>
                <a:lnTo>
                  <a:pt x="0" y="66403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70891" y="2227356"/>
            <a:ext cx="4236313" cy="724024"/>
          </a:xfrm>
          <a:custGeom>
            <a:avLst/>
            <a:gdLst/>
            <a:ahLst/>
            <a:cxnLst/>
            <a:rect r="r" b="b" t="t" l="l"/>
            <a:pathLst>
              <a:path h="724024" w="4236313">
                <a:moveTo>
                  <a:pt x="0" y="0"/>
                </a:moveTo>
                <a:lnTo>
                  <a:pt x="4236313" y="0"/>
                </a:lnTo>
                <a:lnTo>
                  <a:pt x="4236313" y="724025"/>
                </a:lnTo>
                <a:lnTo>
                  <a:pt x="0" y="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123950"/>
            <a:ext cx="10277493" cy="1103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23"/>
              </a:lnSpc>
            </a:pPr>
            <a:r>
              <a:rPr lang="en-US" sz="7891">
                <a:solidFill>
                  <a:srgbClr val="145DC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UART_RX: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028700" y="2589369"/>
            <a:ext cx="1185283" cy="964030"/>
          </a:xfrm>
          <a:custGeom>
            <a:avLst/>
            <a:gdLst/>
            <a:ahLst/>
            <a:cxnLst/>
            <a:rect r="r" b="b" t="t" l="l"/>
            <a:pathLst>
              <a:path h="964030" w="1185283">
                <a:moveTo>
                  <a:pt x="0" y="0"/>
                </a:moveTo>
                <a:lnTo>
                  <a:pt x="1185283" y="0"/>
                </a:lnTo>
                <a:lnTo>
                  <a:pt x="1185283" y="964030"/>
                </a:lnTo>
                <a:lnTo>
                  <a:pt x="0" y="96403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519733" y="2714752"/>
            <a:ext cx="10950385" cy="2884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8"/>
              </a:lnSpc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FSM:</a:t>
            </a:r>
          </a:p>
          <a:p>
            <a:pPr algn="l">
              <a:lnSpc>
                <a:spcPts val="3288"/>
              </a:lnSpc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i choose 4 states for controlles:</a:t>
            </a:r>
          </a:p>
          <a:p>
            <a:pPr algn="l" marL="657424" indent="-328712" lvl="1">
              <a:lnSpc>
                <a:spcPts val="3288"/>
              </a:lnSpc>
              <a:buFont typeface="Arial"/>
              <a:buChar char="•"/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IDLE: that detects first bit of frame by neg_edge detector.</a:t>
            </a:r>
          </a:p>
          <a:p>
            <a:pPr algn="l" marL="657424" indent="-328712" lvl="1">
              <a:lnSpc>
                <a:spcPts val="3288"/>
              </a:lnSpc>
              <a:buFont typeface="Arial"/>
              <a:buChar char="•"/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DATA</a:t>
            </a: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: deserlize the data.</a:t>
            </a:r>
          </a:p>
          <a:p>
            <a:pPr algn="l" marL="657424" indent="-328712" lvl="1">
              <a:lnSpc>
                <a:spcPts val="3288"/>
              </a:lnSpc>
              <a:buFont typeface="Arial"/>
              <a:buChar char="•"/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PARITY</a:t>
            </a: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: check parity when it is.</a:t>
            </a:r>
          </a:p>
          <a:p>
            <a:pPr algn="l" marL="657424" indent="-328712" lvl="1">
              <a:lnSpc>
                <a:spcPts val="3288"/>
              </a:lnSpc>
              <a:buFont typeface="Arial"/>
              <a:buChar char="•"/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STOP</a:t>
            </a: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: end of frame and out valid and back to idle. </a:t>
            </a:r>
          </a:p>
          <a:p>
            <a:pPr algn="l">
              <a:lnSpc>
                <a:spcPts val="3288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28700" y="5599608"/>
            <a:ext cx="1185283" cy="964030"/>
          </a:xfrm>
          <a:custGeom>
            <a:avLst/>
            <a:gdLst/>
            <a:ahLst/>
            <a:cxnLst/>
            <a:rect r="r" b="b" t="t" l="l"/>
            <a:pathLst>
              <a:path h="964030" w="1185283">
                <a:moveTo>
                  <a:pt x="0" y="0"/>
                </a:moveTo>
                <a:lnTo>
                  <a:pt x="1185283" y="0"/>
                </a:lnTo>
                <a:lnTo>
                  <a:pt x="1185283" y="964031"/>
                </a:lnTo>
                <a:lnTo>
                  <a:pt x="0" y="96403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519733" y="5734516"/>
            <a:ext cx="10950385" cy="1246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8"/>
              </a:lnSpc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DESERILAZIER:</a:t>
            </a:r>
          </a:p>
          <a:p>
            <a:pPr algn="l">
              <a:lnSpc>
                <a:spcPts val="3288"/>
              </a:lnSpc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it group the data and out done for fsm make it move to next state.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028700" y="7750932"/>
            <a:ext cx="1185283" cy="964030"/>
          </a:xfrm>
          <a:custGeom>
            <a:avLst/>
            <a:gdLst/>
            <a:ahLst/>
            <a:cxnLst/>
            <a:rect r="r" b="b" t="t" l="l"/>
            <a:pathLst>
              <a:path h="964030" w="1185283">
                <a:moveTo>
                  <a:pt x="0" y="0"/>
                </a:moveTo>
                <a:lnTo>
                  <a:pt x="1185283" y="0"/>
                </a:lnTo>
                <a:lnTo>
                  <a:pt x="1185283" y="964030"/>
                </a:lnTo>
                <a:lnTo>
                  <a:pt x="0" y="96403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519733" y="8011744"/>
            <a:ext cx="10950385" cy="1246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8"/>
              </a:lnSpc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PARITY_CHECK:</a:t>
            </a:r>
          </a:p>
          <a:p>
            <a:pPr algn="l">
              <a:lnSpc>
                <a:spcPts val="3288"/>
              </a:lnSpc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check the data and parity bit to sure if there is an error or not (o_parity_err).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715912" y="5938103"/>
            <a:ext cx="3489225" cy="6640393"/>
          </a:xfrm>
          <a:custGeom>
            <a:avLst/>
            <a:gdLst/>
            <a:ahLst/>
            <a:cxnLst/>
            <a:rect r="r" b="b" t="t" l="l"/>
            <a:pathLst>
              <a:path h="6640393" w="3489225">
                <a:moveTo>
                  <a:pt x="0" y="0"/>
                </a:moveTo>
                <a:lnTo>
                  <a:pt x="3489224" y="0"/>
                </a:lnTo>
                <a:lnTo>
                  <a:pt x="3489224" y="6640394"/>
                </a:lnTo>
                <a:lnTo>
                  <a:pt x="0" y="66403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012183" y="1183713"/>
            <a:ext cx="3657600" cy="784721"/>
          </a:xfrm>
          <a:custGeom>
            <a:avLst/>
            <a:gdLst/>
            <a:ahLst/>
            <a:cxnLst/>
            <a:rect r="r" b="b" t="t" l="l"/>
            <a:pathLst>
              <a:path h="784721" w="3657600">
                <a:moveTo>
                  <a:pt x="0" y="0"/>
                </a:moveTo>
                <a:lnTo>
                  <a:pt x="3657600" y="0"/>
                </a:lnTo>
                <a:lnTo>
                  <a:pt x="3657600" y="784721"/>
                </a:lnTo>
                <a:lnTo>
                  <a:pt x="0" y="78472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960921" y="2159633"/>
            <a:ext cx="15114552" cy="7892831"/>
          </a:xfrm>
          <a:custGeom>
            <a:avLst/>
            <a:gdLst/>
            <a:ahLst/>
            <a:cxnLst/>
            <a:rect r="r" b="b" t="t" l="l"/>
            <a:pathLst>
              <a:path h="7892831" w="15114552">
                <a:moveTo>
                  <a:pt x="0" y="0"/>
                </a:moveTo>
                <a:lnTo>
                  <a:pt x="15114552" y="0"/>
                </a:lnTo>
                <a:lnTo>
                  <a:pt x="15114552" y="7892831"/>
                </a:lnTo>
                <a:lnTo>
                  <a:pt x="0" y="78928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66835" y="1413012"/>
            <a:ext cx="3577352" cy="555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60"/>
              </a:lnSpc>
              <a:spcBef>
                <a:spcPct val="0"/>
              </a:spcBef>
            </a:pPr>
            <a:r>
              <a:rPr lang="en-US" sz="3945">
                <a:solidFill>
                  <a:srgbClr val="020BB5"/>
                </a:solidFill>
                <a:latin typeface="Questrial"/>
                <a:ea typeface="Questrial"/>
                <a:cs typeface="Questrial"/>
                <a:sym typeface="Questrial"/>
              </a:rPr>
              <a:t>FOR test bench: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715912" y="5938103"/>
            <a:ext cx="3489225" cy="6640393"/>
          </a:xfrm>
          <a:custGeom>
            <a:avLst/>
            <a:gdLst/>
            <a:ahLst/>
            <a:cxnLst/>
            <a:rect r="r" b="b" t="t" l="l"/>
            <a:pathLst>
              <a:path h="6640393" w="3489225">
                <a:moveTo>
                  <a:pt x="0" y="0"/>
                </a:moveTo>
                <a:lnTo>
                  <a:pt x="3489224" y="0"/>
                </a:lnTo>
                <a:lnTo>
                  <a:pt x="3489224" y="6640394"/>
                </a:lnTo>
                <a:lnTo>
                  <a:pt x="0" y="66403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988054" y="1374912"/>
            <a:ext cx="3657600" cy="784721"/>
          </a:xfrm>
          <a:custGeom>
            <a:avLst/>
            <a:gdLst/>
            <a:ahLst/>
            <a:cxnLst/>
            <a:rect r="r" b="b" t="t" l="l"/>
            <a:pathLst>
              <a:path h="784721" w="3657600">
                <a:moveTo>
                  <a:pt x="0" y="0"/>
                </a:moveTo>
                <a:lnTo>
                  <a:pt x="3657600" y="0"/>
                </a:lnTo>
                <a:lnTo>
                  <a:pt x="3657600" y="784721"/>
                </a:lnTo>
                <a:lnTo>
                  <a:pt x="0" y="78472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800473" y="6075353"/>
            <a:ext cx="15315953" cy="3780764"/>
          </a:xfrm>
          <a:custGeom>
            <a:avLst/>
            <a:gdLst/>
            <a:ahLst/>
            <a:cxnLst/>
            <a:rect r="r" b="b" t="t" l="l"/>
            <a:pathLst>
              <a:path h="3780764" w="15315953">
                <a:moveTo>
                  <a:pt x="0" y="0"/>
                </a:moveTo>
                <a:lnTo>
                  <a:pt x="15315953" y="0"/>
                </a:lnTo>
                <a:lnTo>
                  <a:pt x="15315953" y="3780764"/>
                </a:lnTo>
                <a:lnTo>
                  <a:pt x="0" y="378076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2368395"/>
            <a:ext cx="1185283" cy="964030"/>
          </a:xfrm>
          <a:custGeom>
            <a:avLst/>
            <a:gdLst/>
            <a:ahLst/>
            <a:cxnLst/>
            <a:rect r="r" b="b" t="t" l="l"/>
            <a:pathLst>
              <a:path h="964030" w="1185283">
                <a:moveTo>
                  <a:pt x="0" y="0"/>
                </a:moveTo>
                <a:lnTo>
                  <a:pt x="1185283" y="0"/>
                </a:lnTo>
                <a:lnTo>
                  <a:pt x="1185283" y="964030"/>
                </a:lnTo>
                <a:lnTo>
                  <a:pt x="0" y="9640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908403" y="3320974"/>
            <a:ext cx="11253786" cy="2508806"/>
          </a:xfrm>
          <a:custGeom>
            <a:avLst/>
            <a:gdLst/>
            <a:ahLst/>
            <a:cxnLst/>
            <a:rect r="r" b="b" t="t" l="l"/>
            <a:pathLst>
              <a:path h="2508806" w="11253786">
                <a:moveTo>
                  <a:pt x="0" y="0"/>
                </a:moveTo>
                <a:lnTo>
                  <a:pt x="11253786" y="0"/>
                </a:lnTo>
                <a:lnTo>
                  <a:pt x="11253786" y="2508805"/>
                </a:lnTo>
                <a:lnTo>
                  <a:pt x="0" y="250880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1123950"/>
            <a:ext cx="10277493" cy="1103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23"/>
              </a:lnSpc>
            </a:pPr>
            <a:r>
              <a:rPr lang="en-US" sz="7891">
                <a:solidFill>
                  <a:srgbClr val="145DC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TEST BENCH: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48353" y="2650994"/>
            <a:ext cx="4399865" cy="427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8"/>
              </a:lnSpc>
              <a:spcBef>
                <a:spcPct val="0"/>
              </a:spcBef>
            </a:pPr>
            <a:r>
              <a:rPr lang="en-US" sz="304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i achived all tested 66\66.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63995" y="1801919"/>
            <a:ext cx="5610720" cy="5858532"/>
          </a:xfrm>
          <a:custGeom>
            <a:avLst/>
            <a:gdLst/>
            <a:ahLst/>
            <a:cxnLst/>
            <a:rect r="r" b="b" t="t" l="l"/>
            <a:pathLst>
              <a:path h="5858532" w="5610720">
                <a:moveTo>
                  <a:pt x="0" y="0"/>
                </a:moveTo>
                <a:lnTo>
                  <a:pt x="5610721" y="0"/>
                </a:lnTo>
                <a:lnTo>
                  <a:pt x="5610721" y="5858532"/>
                </a:lnTo>
                <a:lnTo>
                  <a:pt x="0" y="58585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26995" y="7044639"/>
            <a:ext cx="2233712" cy="4251009"/>
          </a:xfrm>
          <a:custGeom>
            <a:avLst/>
            <a:gdLst/>
            <a:ahLst/>
            <a:cxnLst/>
            <a:rect r="r" b="b" t="t" l="l"/>
            <a:pathLst>
              <a:path h="4251009" w="2233712">
                <a:moveTo>
                  <a:pt x="0" y="0"/>
                </a:moveTo>
                <a:lnTo>
                  <a:pt x="2233712" y="0"/>
                </a:lnTo>
                <a:lnTo>
                  <a:pt x="2233712" y="4251010"/>
                </a:lnTo>
                <a:lnTo>
                  <a:pt x="0" y="42510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11056223" y="-1440442"/>
            <a:ext cx="2233712" cy="4251009"/>
          </a:xfrm>
          <a:custGeom>
            <a:avLst/>
            <a:gdLst/>
            <a:ahLst/>
            <a:cxnLst/>
            <a:rect r="r" b="b" t="t" l="l"/>
            <a:pathLst>
              <a:path h="4251009" w="2233712">
                <a:moveTo>
                  <a:pt x="0" y="0"/>
                </a:moveTo>
                <a:lnTo>
                  <a:pt x="2233712" y="0"/>
                </a:lnTo>
                <a:lnTo>
                  <a:pt x="2233712" y="4251009"/>
                </a:lnTo>
                <a:lnTo>
                  <a:pt x="0" y="42510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751793" y="8372726"/>
            <a:ext cx="7093581" cy="1771148"/>
          </a:xfrm>
          <a:custGeom>
            <a:avLst/>
            <a:gdLst/>
            <a:ahLst/>
            <a:cxnLst/>
            <a:rect r="r" b="b" t="t" l="l"/>
            <a:pathLst>
              <a:path h="1771148" w="7093581">
                <a:moveTo>
                  <a:pt x="0" y="0"/>
                </a:moveTo>
                <a:lnTo>
                  <a:pt x="7093581" y="0"/>
                </a:lnTo>
                <a:lnTo>
                  <a:pt x="7093581" y="1771148"/>
                </a:lnTo>
                <a:lnTo>
                  <a:pt x="0" y="177114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488907" y="3905718"/>
            <a:ext cx="10286279" cy="1576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27"/>
              </a:lnSpc>
            </a:pPr>
            <a:r>
              <a:rPr lang="en-US" sz="11228">
                <a:solidFill>
                  <a:srgbClr val="145DC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DAHUJoYxINw</dc:identifier>
  <dcterms:modified xsi:type="dcterms:W3CDTF">2011-08-01T06:04:30Z</dcterms:modified>
  <cp:revision>1</cp:revision>
  <dc:title>uart presentation</dc:title>
</cp:coreProperties>
</file>